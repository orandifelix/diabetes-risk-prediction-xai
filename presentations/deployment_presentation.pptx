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Title: Introduce the project as an end-to-end, deployed explainable AI system for Type 2 diabetes risk, built on CatBoost and the 2023 BRFSS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Introduce each contributor and their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Frame the scale of the global diabetes burden and why undiagnosis is the core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Challenges: Explain why existing screening tools fall short — access, and lack of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Four pillars of what the platform actually does — predict, explain, prevent,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Objectives: Walk through what was actually delivered, correcting to CatBoost as the final selected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Ground the audience in the real scale and nature of the data — self-reportable, no lab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Walk top-to-bottom through the five layers — this is the technical core of the deployment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stack: Quick tour of the concrete technologies powering each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web app: Justify the deployment decision versus a simpler Streamlit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topology: Explain where each component actually runs and how secrets are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Stakeholders: Who this is built for, and why browser-based access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Full feature surface area of the shipped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Walk through the actual user journey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performance: The real held-out metrics — 75% recall, 82% ROC-AUC — and why recall was prioritised.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Explainability: SHAP vs LIME — how they complement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Dida: Demo the hybrid architecture — LLM for chat, deterministic state machine for the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Benefits: Value delivered to each stakeholder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Where the project could go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Recap the four key takeaways and open the floor to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DEPLOYMENT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AI-Powered
</a:t>
            </a:r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2 Diabetes
</a:t>
            </a:r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Prediction Platform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BRFSS 2023 · CatBoost · SHAP &amp; LIME · Full-Stack Deployment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·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8448" y="24231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29844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Stephen Mwaura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931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@S-Mwaura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210312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24231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7180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Angela Masaki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71800" y="3931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@MoonwaMasaki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10312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87568" y="24231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568756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16636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Diana Byegon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931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@byegond-beep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23760" y="210312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82128" y="24231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788212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Kevin Kisengu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60920" y="3931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· XAI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@K-OK27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18320" y="2103120"/>
            <a:ext cx="2048256" cy="3291840"/>
          </a:xfrm>
          <a:prstGeom prst="roundRect">
            <a:avLst>
              <a:gd name="adj" fmla="val 446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76688" y="2423160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1007668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555480" y="3337560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Orandi Felix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555480" y="3931920"/>
            <a:ext cx="17739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Documentation &amp; App Development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555480" y="489204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@Orandifelix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Health Crisis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9516" y="23774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99516" y="2377440"/>
            <a:ext cx="329184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" y="28803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973836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globally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48556" y="23774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4448556" y="2377440"/>
            <a:ext cx="32918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48556" y="28803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722876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undiagnosed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97596" y="23774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197596" y="2377440"/>
            <a:ext cx="32918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197596" y="28803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471916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with early 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International Diabetes Federation, IDF Diabetes Atlas (10th ed., 2021)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LANDSCAPE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Screening Falls Short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2257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2257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1488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requires hospital visits and laboratory tests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37413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741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2004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calculators return a number with no explanation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42569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2569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understand why they received a given risk score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477256"/>
            <a:ext cx="530352" cy="53035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477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3035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diagnosis leads to preventable, irreversible complications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AI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606040"/>
            <a:ext cx="768096" cy="7680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559052" y="26060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risk from 14 self-reportable health questions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7972" y="2606040"/>
            <a:ext cx="768096" cy="7680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347972" y="26060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40690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with SHAP and LIME — no black 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6892" y="2606040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6892" y="26060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5508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0690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awareness and lifestyle intervention early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0684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25812" y="2606040"/>
            <a:ext cx="768096" cy="7680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9925812" y="26060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0" y="3566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40690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Informed, data-backed clinical discussions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Objectives Achieved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928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CDC BRFSS 2023 survey data (429,086 respondents) for ML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demographic, behavioural, and clinical risk factors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2644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Logistic Regression, Random Forest, XGBoost, LightGBM, and CatBoost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9502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CatBoost and tune its decision threshold to prioritise recall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6360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and LIME for global and per-patient explainability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532180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deployed, full-stack dashboard — not just a notebook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30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429,086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30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04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30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BRFSS survey 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0" y="21305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06840" y="28346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tests required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 (fourteen self-reportable inputs — no clinic visit required):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370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Anthropometric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681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4370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34840" y="4681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race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2976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43708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2440" y="4681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health, physical-health days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223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77240" y="57332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physical activity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97680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434840" y="54223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34840" y="57332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Education, income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5349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542239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history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092440" y="573328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Hypertension, cholesterol, kidney disease, heart disease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874520"/>
            <a:ext cx="8275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87452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dashboard + Dida assistant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587752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8775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587752"/>
            <a:ext cx="8275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58775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predict, batch, export, chat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0098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Explainability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3300984"/>
            <a:ext cx="8275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300984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+ SHAP TreeExplainer + LIME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14216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1421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Identity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4014216"/>
            <a:ext cx="8275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014216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Google OAuth 2.0 · JWT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727448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72744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4727448"/>
            <a:ext cx="8275320" cy="621792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472744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(ReportLab) · CSV · SMTP email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interaction surfaces — the structured form, batch upload, and Dida — call the same /predict endpoint: a single source of truth for risk computation.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8076" y="1965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18488" y="216712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618488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9516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" y="3209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App Router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96996" y="1965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7408" y="216712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4407408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88436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34156" y="3209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Python backend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5916" y="1965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96328" y="216712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196328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77356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3076" y="3209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SQLAlchemy 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96596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985248" y="216712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9985248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066276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11996" y="320954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18488" y="404164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8" name="Text 26"/>
          <p:cNvSpPr/>
          <p:nvPr/>
        </p:nvSpPr>
        <p:spPr>
          <a:xfrm>
            <a:off x="1618488" y="40416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9516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+ LIME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5236" y="5084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explainability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96996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07408" y="404164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407408" y="40416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488436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OAuth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34156" y="5084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+ JWT bearer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85916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404164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8" name="Text 36"/>
          <p:cNvSpPr/>
          <p:nvPr/>
        </p:nvSpPr>
        <p:spPr>
          <a:xfrm>
            <a:off x="7196328" y="40416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277356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Llama-3.1-8B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23076" y="5084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Dida's conversation layer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974836" y="384048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985248" y="4041648"/>
            <a:ext cx="585216" cy="5852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3" name="Text 41"/>
          <p:cNvSpPr/>
          <p:nvPr/>
        </p:nvSpPr>
        <p:spPr>
          <a:xfrm>
            <a:off x="9985248" y="40416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66276" y="47365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11996" y="5084064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Full Web App, Not a Streamlit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965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Demo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02412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102412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2724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history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1272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12724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2412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9417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dashboards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36941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69417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61104"/>
            <a:ext cx="102412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26110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assistant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426110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09360" y="42611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828032"/>
            <a:ext cx="10241280" cy="56692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2803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82803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482803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5394960"/>
            <a:ext cx="1024128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949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06240" y="53949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53949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Topology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0881360" cy="6035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92024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SSR hosting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2374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52374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(async)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523744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via uvicorn, containerised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10881360" cy="6035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2724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12724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127248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instance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07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73075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+ preprocessor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730752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disk at API startup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34256"/>
            <a:ext cx="10881360" cy="60350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33425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433425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334256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inference API (NVIDIA-hosted)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937760"/>
            <a:ext cx="10881360" cy="6035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93776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493776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937760"/>
            <a:ext cx="4937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app-password auth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(SMTP credentials, OAuth client secret, LLM API key) are supplied via environment variables — never committed to source control.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Real Users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9659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258568"/>
            <a:ext cx="5120640" cy="3017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Stakeholders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34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Clinicians &amp; healthcare providers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3401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Patients &amp; individuals at risk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9684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health agencies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45354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promotion programmes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0" y="19659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2258568"/>
            <a:ext cx="5120640" cy="3017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96596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Secondary Stakeholders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55080" y="3401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Academic institutions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396849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Health insurance organisations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55080" y="453542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makers &amp; NGOs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anyone with a browser can access the platform — no installation, no programming knowledge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AI Health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23060" y="2194560"/>
            <a:ext cx="640080" cy="6400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6230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085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17550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1980" y="219456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4119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347472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404164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11880" y="46085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517550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 Health Assistant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0900" y="21945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0090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347472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Centre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4164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Guides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6085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&amp; Risk Factors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17550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Progression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06840" y="192024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989820" y="219456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998982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06840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89720" y="3474720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89720" y="4041648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Explorer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89720" y="460857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9720" y="5175504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Login to Insight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25880" y="192024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2024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Google Authentication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91540" y="2468880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79192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79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5880" y="2633472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633472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14 health questions (form or Dida)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91540" y="3182112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25880" y="3346704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3346704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model generates risk prediction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91540" y="3895344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105656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25880" y="4059936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4059936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risk score + SHAP/LIME explanations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91540" y="4608576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818888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25880" y="4773168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1554480" y="477316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personalised prevention recommendations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891540" y="5321808"/>
            <a:ext cx="0" cy="13716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5880" y="548640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1554480" y="548640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history · download PDF · email result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90956" y="201168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" y="22402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790956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6716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— fewer missed at-risk respondents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7356" y="2011680"/>
            <a:ext cx="5120640" cy="237744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277356" y="22402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6277356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43116" y="3794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overall discriminative power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· CDC BRFSS 2023 · CatBoost with recall-optimised decision threshold (no synthetic oversampling)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53949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SHAP analysis consistently ranks general health status, BMI, age group, and hypertension as the strongest predictors — matching established clinical risk factors.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 is Explained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90956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56716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56716" y="29260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increased or reduced predicted diabetes risk across the entire model.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56716" y="411480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6716" y="411480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explanations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56716" y="461772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6716" y="461772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56716" y="512064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6716" y="51206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impact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7356" y="19659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43116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643116" y="29260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this individual prediction was made by locally perturbing features.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43116" y="411480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3116" y="411480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explanations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43116" y="461772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3116" y="461772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Per-prediction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43116" y="512064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3116" y="51206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Dida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9784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architecture: an LLM for open conversation, a deterministic state machine for the actual assessment.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2743200"/>
            <a:ext cx="6583680" cy="777240"/>
          </a:xfrm>
          <a:prstGeom prst="roundRect">
            <a:avLst>
              <a:gd name="adj" fmla="val 17647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274320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BMI is 32 and I have high blood pressure. What's my risk?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685032"/>
            <a:ext cx="6583680" cy="77724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8503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find out precisely — I'll walk you through 14 quick questions and give you a full explanation, not just a number.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846320" y="4626864"/>
            <a:ext cx="6583680" cy="777240"/>
          </a:xfrm>
          <a:prstGeom prst="roundRect">
            <a:avLst>
              <a:gd name="adj" fmla="val 17647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4626864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my SHAP output mean?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568696"/>
            <a:ext cx="6583680" cy="77724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568696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BMI contributed most to the positive prediction (+0.18). Physical activity reduced your risk (−0.06) — the two factors you can most influence.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the Platform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718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risk screening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85032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8503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398264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9826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awareness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111496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11149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education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Clinicians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297180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718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predictions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3685032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68503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398264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39826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communication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201168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286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Public Health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320" y="297180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97180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healthcare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75320" y="3685032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3685032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accessibility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75320" y="4398264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39826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interventions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Predictor — Explainable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2677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9659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bots (WhatsApp, Telegram)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2677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659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31821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8803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integration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28803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31821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8803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" y="40965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3794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9672" y="40965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7947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50109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4709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referral system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63640" y="47091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19672" y="5010912"/>
            <a:ext cx="128016" cy="12801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70916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analytics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makes predictions transparent and trustworthy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combines prediction, education, and prevention in one place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033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70332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web app delivers far greater accessibility than a notebook or demo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617720"/>
            <a:ext cx="9235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Dida's hybrid design proves LLMs and deterministic pipelines work best together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·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2026-07-18T06:39:53Z</dcterms:created>
  <dcterms:modified xsi:type="dcterms:W3CDTF">2026-07-18T06:39:53Z</dcterms:modified>
</cp:coreProperties>
</file>